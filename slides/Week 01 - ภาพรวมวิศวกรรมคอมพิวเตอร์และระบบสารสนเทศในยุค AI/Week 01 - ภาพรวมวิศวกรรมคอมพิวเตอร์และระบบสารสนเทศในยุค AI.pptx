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2b98ccf1fc433a" /><Relationship Type="http://schemas.openxmlformats.org/officeDocument/2006/relationships/extended-properties" Target="/docProps/app.xml" Id="R1adee00170734f3f" /><Relationship Type="http://schemas.openxmlformats.org/officeDocument/2006/relationships/officeDocument" Target="/ppt/presentation.xml" Id="Rf7d585b4b3ee4e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0a9348e01e4dc9"/>
  </p:sldMasterIdLst>
  <p:notesMasterIdLst>
    <p:notesMasterId xmlns:r="http://schemas.openxmlformats.org/officeDocument/2006/relationships" r:id="R8a894054759d4f1d"/>
  </p:notesMasterIdLst>
  <p:sldIdLst>
    <p:sldId xmlns:r="http://schemas.openxmlformats.org/officeDocument/2006/relationships" id="256" r:id="R2794a31a27524078"/>
    <p:sldId xmlns:r="http://schemas.openxmlformats.org/officeDocument/2006/relationships" id="257" r:id="R87b7f30e6bc44db9"/>
    <p:sldId xmlns:r="http://schemas.openxmlformats.org/officeDocument/2006/relationships" id="258" r:id="R77027d3f544945be"/>
    <p:sldId xmlns:r="http://schemas.openxmlformats.org/officeDocument/2006/relationships" id="259" r:id="Rbc1ddd4b39f74a7f"/>
    <p:sldId xmlns:r="http://schemas.openxmlformats.org/officeDocument/2006/relationships" id="260" r:id="R7d6ce591376c40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710a3053d94c7d" /><Relationship Type="http://schemas.openxmlformats.org/officeDocument/2006/relationships/slideMaster" Target="/ppt/slideMasters/slideMaster1.xml" Id="Raf0a9348e01e4dc9" /><Relationship Type="http://schemas.openxmlformats.org/officeDocument/2006/relationships/notesMaster" Target="/ppt/notesMasters/notesMaster1.xml" Id="R8a894054759d4f1d" /><Relationship Type="http://schemas.openxmlformats.org/officeDocument/2006/relationships/presProps" Target="/ppt/presProps.xml" Id="Ra528845378dc4b13" /><Relationship Type="http://schemas.openxmlformats.org/officeDocument/2006/relationships/tableStyles" Target="/ppt/tableStyles.xml" Id="Rcbb0c080d9064dac" /><Relationship Type="http://schemas.openxmlformats.org/officeDocument/2006/relationships/slide" Target="/ppt/slides/slide1.xml" Id="R2794a31a27524078" /><Relationship Type="http://schemas.openxmlformats.org/officeDocument/2006/relationships/slide" Target="/ppt/slides/slide2.xml" Id="R87b7f30e6bc44db9" /><Relationship Type="http://schemas.openxmlformats.org/officeDocument/2006/relationships/slide" Target="/ppt/slides/slide3.xml" Id="R77027d3f544945be" /><Relationship Type="http://schemas.openxmlformats.org/officeDocument/2006/relationships/slide" Target="/ppt/slides/slide4.xml" Id="Rbc1ddd4b39f74a7f" /><Relationship Type="http://schemas.openxmlformats.org/officeDocument/2006/relationships/slide" Target="/ppt/slides/slide5.xml" Id="R7d6ce591376c40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8f23075fc844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3a032fd4d34a26" /><Relationship Type="http://schemas.openxmlformats.org/officeDocument/2006/relationships/notesMaster" Target="/ppt/notesMasters/notesMaster1.xml" Id="R515aeb18cd0047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fef7e967b54c38" /><Relationship Type="http://schemas.openxmlformats.org/officeDocument/2006/relationships/notesMaster" Target="/ppt/notesMasters/notesMaster1.xml" Id="Rc463703fa6934f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e978b3d1954dc4" /><Relationship Type="http://schemas.openxmlformats.org/officeDocument/2006/relationships/notesMaster" Target="/ppt/notesMasters/notesMaster1.xml" Id="R471934a02d2340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dd8ac585fd4633" /><Relationship Type="http://schemas.openxmlformats.org/officeDocument/2006/relationships/notesMaster" Target="/ppt/notesMasters/notesMaster1.xml" Id="Rf625191f2a7645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2b6235400c4f58" /><Relationship Type="http://schemas.openxmlformats.org/officeDocument/2006/relationships/notesMaster" Target="/ppt/notesMasters/notesMaster1.xml" Id="R7c11b8018e7442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f6551c9154a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5a6fc9585e4417" /><Relationship Type="http://schemas.openxmlformats.org/officeDocument/2006/relationships/slideLayout" Target="/ppt/slideLayouts/slideLayout1.xml" Id="Re21f669e54ab49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1f669e54ab49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8ea91ecbb4709" /><Relationship Type="http://schemas.openxmlformats.org/officeDocument/2006/relationships/notesSlide" Target="/ppt/notesSlides/notesSlide1.xml" Id="R9bcb09fbf59c4a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52d8397d54a60" /><Relationship Type="http://schemas.openxmlformats.org/officeDocument/2006/relationships/notesSlide" Target="/ppt/notesSlides/notesSlide2.xml" Id="R5a8a4ab7cd6a4d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b517d20174e5e" /><Relationship Type="http://schemas.openxmlformats.org/officeDocument/2006/relationships/notesSlide" Target="/ppt/notesSlides/notesSlide3.xml" Id="Rae7f32698e314d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1d13cc75a48ba" /><Relationship Type="http://schemas.openxmlformats.org/officeDocument/2006/relationships/notesSlide" Target="/ppt/notesSlides/notesSlide4.xml" Id="Rb484f9a066254b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126ea6ce64fd0" /><Relationship Type="http://schemas.openxmlformats.org/officeDocument/2006/relationships/notesSlide" Target="/ppt/notesSlides/notesSlide5.xml" Id="Rf897d802115d4b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58B0297-B990-437F-86F6-8E59B851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01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C276D4-37C0-4BF7-A22F-2C1F31A2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ภาพรวมวิศวกรรมคอมพิวเตอร์และระบบสารสนเทศในยุค AI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B08A0CE8-DFEE-433C-84C2-AE088EA1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2458DAB1-7205-448A-86DD-BE8F6C27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316BD1E3-C9A5-4749-B820-C4BD83B3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B270111-F31E-4655-AC06-9828EAEB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วิศวกรรมคอมพิวเตอร์ (Computer Engineering — CE) เชื่อม ฮาร์ดแวร์และซอฟต์แวร์ เข้าด้วยกัน ต่างจาก IS ที่เน้นนำเทคโนโลยีไปใช้ในองค์กร และ IT ที่เน้นดูแล/ให้บริการระบบ สัปดาห์นี้เป็น "แผนที่ใหญ่" ของทั้งรายวิชา ดู overview และ index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9D8AFB7-D37C-4B75-8F63-7EAB9C5E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D58D8FF-FDEC-48B9-93F0-B5EA4B3C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01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E2C7206-DA60-4C80-A6F9-91522DE0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10855562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8270FE5-CFF0-479C-9B05-B49C8BC7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D7D4A7-3BBF-4DB4-BFDD-B3FFFA12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CLO ของรายวิชา</a:t>
            </a:r>
          </a:p>
        </p:txBody>
      </p:sp>
      <p:sp>
        <p:nvSpPr>
          <p:cNvPr id="3" name="dot-0">
            <a:extLst xmlns:a="http://schemas.openxmlformats.org/drawingml/2006/main">
              <a:ext uri="{FF2B5EF4-FFF2-40B4-BE49-F238E27FC236}">
                <a16:creationId xmlns:a16="http://schemas.microsoft.com/office/drawing/2014/main" id="{5D0DFA7F-016C-4A22-B000-181230F3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71A68C05-2CF6-4604-9C58-13CB0262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ผู้เรียนสามารถอธิบายขอบเขตและบทบาทของวิศวกรรมคอมพิวเตอร์ (Computer Engineering) ในปัจจุบันได้ — CLO1</a:t>
            </a:r>
          </a:p>
        </p:txBody>
      </p:sp>
      <p:sp>
        <p:nvSpPr>
          <p:cNvPr id="5" name="dot-1">
            <a:extLst xmlns:a="http://schemas.openxmlformats.org/drawingml/2006/main">
              <a:ext uri="{FF2B5EF4-FFF2-40B4-BE49-F238E27FC236}">
                <a16:creationId xmlns:a16="http://schemas.microsoft.com/office/drawing/2014/main" id="{FEE3A55F-8AA8-46C9-8314-C643F6D1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1C491CBB-DBED-432E-BEE8-3C6AB21E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ผู้เรียนสามารถแยกแยะความแตกต่างระหว่างสาขา IT, IS, CE, CS และ SE ได้ตามมาตรฐานสากล — CLO1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C5661DE7-86C4-491E-A216-37408261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F66E5446-B2B1-49B0-B7C1-25C0FA8A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ผู้เรียนตระหนักถึงแนวโน้มของเทคโนโลยีในอนาคต โดยเฉพาะการขับเคลื่อนด้วย AI (AI-driven architecture) — CLO4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7C891B7-9D35-4E96-AFD2-4C150E26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EE5ED62-4719-48EB-AD21-326B7864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01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35F529D-BBB5-47FD-9DEE-3145BF2F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1849653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B0484985-1845-48FA-AD23-4A8A68A4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DC92CC17-C04D-4FB7-8785-09F3E4E9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46F87A01-8019-4899-A31D-EFFB885F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0D5679C1-0911-44B8-858D-AB8D0E4E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2C655BF9-BCB6-4733-A827-C88247D2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บทบาทของวิศวกรรมคอมพิวเตอร์ในปัจจุบันและการเปลี่ยนแ…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8E6643D1-4212-4BF1-986B-6329224B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B4D92071-9E66-44AB-84EB-35BB47C2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ความแตกต่างระหว่าง IT, IS, CE, CS, SE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B607498B-D4CD-4816-B5BF-283B0FD1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676A5107-2F4D-4F6D-8A2A-18E7A08D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แนวโน้มของเทคโนโลยีอนาคต (AI, Agentic AI, Autonomou…</a:t>
            </a:r>
          </a:p>
        </p:txBody>
      </p:sp>
      <p:sp>
        <p:nvSpPr>
          <p:cNvPr id="10" name="panel-1">
            <a:extLst xmlns:a="http://schemas.openxmlformats.org/drawingml/2006/main">
              <a:ext uri="{FF2B5EF4-FFF2-40B4-BE49-F238E27FC236}">
                <a16:creationId xmlns:a16="http://schemas.microsoft.com/office/drawing/2014/main" id="{14108634-7894-4F17-B3F0-D027C13E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53332861-CC5D-4C13-9BF4-4C64F3BE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6F8C4120-9D75-4852-A1F9-C960CEBD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A95A02C6-6B80-459B-B333-BBA8C590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CE vs CS vs IS vs IT: CE บูรณาการวิศวกรรมไฟฟ้า + วิ…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6CC8D1F4-80DE-4302-B743-C212C79C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32AD9CA8-42B1-4314-A464-505DDCA1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กรอบองค์ความรู้มาตรฐาน: ACM/IEEE CE2016 กำหนด body…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9636C064-EA13-40EA-BA49-DA5029A4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6B6C2E89-F58B-46E7-B779-D75DF6F9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เส้นแบ่งเบลอลง: AI, คลาวด์ และระบบฝังตัวอัจฉริยะทำใ…</a:t>
            </a:r>
          </a:p>
        </p:txBody>
      </p:sp>
      <p:sp>
        <p:nvSpPr>
          <p:cNvPr id="18" name="panel-2">
            <a:extLst xmlns:a="http://schemas.openxmlformats.org/drawingml/2006/main">
              <a:ext uri="{FF2B5EF4-FFF2-40B4-BE49-F238E27FC236}">
                <a16:creationId xmlns:a16="http://schemas.microsoft.com/office/drawing/2014/main" id="{6D7B2E50-3833-40FC-BC93-368056DD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B679C5D6-FFB0-4E24-A19F-54B352F6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36AE5326-2162-48E9-A72A-C0EC6B8B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8EBBAB1C-4050-411E-B764-94B08417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Agentic AI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57E6DB9A-97EC-426A-826C-938F9109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47A21F05-1495-4847-82F7-7C4CB272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ดูธีม ปัญญาประดิษฐ์เป็นแรงขับเคลื่อนข้ามศาสตร์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CF5FB22-FEC6-4AFE-9542-26FD8B84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39C1F66-4864-44A3-86D7-C6ACF5D9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01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0D1EA71-7CCB-45C7-8BAF-44DC7320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12463011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A0394BCF-251F-4CEB-8247-DEA5ECB7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90157308-7918-425F-AC6E-FD2234FB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E702B74F-FE66-41FE-87C5-3EECAF00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91A9068C-3FF8-4509-9CF3-87686181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82F83D91-8DFF-4246-BCC8-BDDF011F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522D4E0F-CE55-4431-9F58-9351AF8D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CE vs CS vs IS vs IT: CE บูรณาการวิศวกรรมไฟฟ้า + วิทยาการคอมพิวเตอร์ (ออกแบบตั้งแต่วงจรถึงซอฟต์แวร์ระบบ); CS…</a:t>
            </a:r>
          </a:p>
        </p:txBody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1945A2EA-28BB-4795-99A5-EB101260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4A17A09B-FE75-4F8C-AE7D-07A835BC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กรอบองค์ความรู้มาตรฐาน: ACM/IEEE CE2016 กำหนด body of knowledge 12 knowledge areas (~420 ชม.แกน + 120 ชม.คณิต…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2BA7FE61-FA12-4336-8241-C5ABDDAF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998CC8AB-0F86-428E-B33C-2810C67A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เส้นแบ่งเบลอลง: AI, คลาวด์ และระบบฝังตัวอัจฉริยะทำให้ทุกสายต้องเข้าใจข้ามศาสตร์</a:t>
            </a:r>
          </a:p>
        </p:txBody>
      </p:sp>
      <p:sp>
        <p:nvSpPr>
          <p:cNvPr id="11" name="right-head">
            <a:extLst xmlns:a="http://schemas.openxmlformats.org/drawingml/2006/main">
              <a:ext uri="{FF2B5EF4-FFF2-40B4-BE49-F238E27FC236}">
                <a16:creationId xmlns:a16="http://schemas.microsoft.com/office/drawing/2014/main" id="{AFC7E598-9457-4634-8BFD-1DE7AF2E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C2C6598C-8E27-4107-B0A1-239491B4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0D01C527-05AC-4CA7-9C86-5D9C22DB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มาตรฐานล่าสุด CS2023 (ACM/IEEE-CS/AAAI) ยกระดับ AI/ML และความปลอดภัยเป็นพื้นฐานของทุกสาขาคอมพิวเตอร์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E38ECBE4-4434-42B9-9449-7E4718FF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54D280F9-4E64-4D6E-92E3-BE273376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ตลาดแรงงานต้องการทักษะผสม "วิศวกรรม + ข้อมูล + AI"; งานสาย AI/ML และความปลอดภัยโตเร็วที่สุด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8D2C9F4-3C43-4680-BB1F-35B18AF9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4B25D96-6E27-471B-9732-3B1CD0DE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01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A2E2947-013A-4602-A328-AF9315A7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16812005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BABB4D5-232F-42DF-8994-90B713E3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DB9B3817-92C0-4832-BAB3-DBE44C2E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C4F1E712-3AD5-4329-924E-7D554F6F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Lab 1 ชม. (ตั้งค่า IDE, Git) + Project 1 ชม.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D4261899-2F5E-4291-90D0-15D773E5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86E92BC0-619D-4A32-AF0A-2B4E7250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37ACE5D3-9F19-485F-B100-90E9E529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C27F873A-B75F-491E-9FF0-926B50E4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61E1B19-599E-4D6C-8940-F19FE3A9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747C8AC-D5B5-4422-9DD1-621F2D92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01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61B4499-A6E4-4EF5-8416-BEEFCCE9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222414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2026-06-30T03:51:29.1480000Z</dcterms:created>
  <dcterms:modified xsi:type="dcterms:W3CDTF">2026-06-30T03:51:29.1480000Z</dcterms:modified>
</coreProperties>
</file>