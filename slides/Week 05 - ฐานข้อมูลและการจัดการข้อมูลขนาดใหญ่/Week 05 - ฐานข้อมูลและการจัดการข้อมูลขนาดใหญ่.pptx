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16be2aa6fe4d22" /><Relationship Type="http://schemas.openxmlformats.org/officeDocument/2006/relationships/extended-properties" Target="/docProps/app.xml" Id="R428dc7fb5b744817" /><Relationship Type="http://schemas.openxmlformats.org/officeDocument/2006/relationships/officeDocument" Target="/ppt/presentation.xml" Id="Rcd7278ce140f4b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2862b2f10a4703"/>
  </p:sldMasterIdLst>
  <p:notesMasterIdLst>
    <p:notesMasterId xmlns:r="http://schemas.openxmlformats.org/officeDocument/2006/relationships" r:id="R302812c3e8074053"/>
  </p:notesMasterIdLst>
  <p:sldIdLst>
    <p:sldId xmlns:r="http://schemas.openxmlformats.org/officeDocument/2006/relationships" id="256" r:id="Rce07fad1f7d44073"/>
    <p:sldId xmlns:r="http://schemas.openxmlformats.org/officeDocument/2006/relationships" id="257" r:id="Ra14e3a124d01419a"/>
    <p:sldId xmlns:r="http://schemas.openxmlformats.org/officeDocument/2006/relationships" id="258" r:id="R79998892126040f5"/>
    <p:sldId xmlns:r="http://schemas.openxmlformats.org/officeDocument/2006/relationships" id="259" r:id="R814d18cc20294694"/>
    <p:sldId xmlns:r="http://schemas.openxmlformats.org/officeDocument/2006/relationships" id="260" r:id="Rc1ee604b224a4f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851ec36cb94fec" /><Relationship Type="http://schemas.openxmlformats.org/officeDocument/2006/relationships/slideMaster" Target="/ppt/slideMasters/slideMaster1.xml" Id="Ra32862b2f10a4703" /><Relationship Type="http://schemas.openxmlformats.org/officeDocument/2006/relationships/notesMaster" Target="/ppt/notesMasters/notesMaster1.xml" Id="R302812c3e8074053" /><Relationship Type="http://schemas.openxmlformats.org/officeDocument/2006/relationships/presProps" Target="/ppt/presProps.xml" Id="R59ed5656cee64cbd" /><Relationship Type="http://schemas.openxmlformats.org/officeDocument/2006/relationships/tableStyles" Target="/ppt/tableStyles.xml" Id="R368165525cd34cf1" /><Relationship Type="http://schemas.openxmlformats.org/officeDocument/2006/relationships/slide" Target="/ppt/slides/slide1.xml" Id="Rce07fad1f7d44073" /><Relationship Type="http://schemas.openxmlformats.org/officeDocument/2006/relationships/slide" Target="/ppt/slides/slide2.xml" Id="Ra14e3a124d01419a" /><Relationship Type="http://schemas.openxmlformats.org/officeDocument/2006/relationships/slide" Target="/ppt/slides/slide3.xml" Id="R79998892126040f5" /><Relationship Type="http://schemas.openxmlformats.org/officeDocument/2006/relationships/slide" Target="/ppt/slides/slide4.xml" Id="R814d18cc20294694" /><Relationship Type="http://schemas.openxmlformats.org/officeDocument/2006/relationships/slide" Target="/ppt/slides/slide5.xml" Id="Rc1ee604b224a4f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f4fb10abc542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a74e10f60e4ef3" /><Relationship Type="http://schemas.openxmlformats.org/officeDocument/2006/relationships/notesMaster" Target="/ppt/notesMasters/notesMaster1.xml" Id="Rfe79b20128f447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66b8d735f9425c" /><Relationship Type="http://schemas.openxmlformats.org/officeDocument/2006/relationships/notesMaster" Target="/ppt/notesMasters/notesMaster1.xml" Id="R6e79d0b9805349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9f3c66a563418a" /><Relationship Type="http://schemas.openxmlformats.org/officeDocument/2006/relationships/notesMaster" Target="/ppt/notesMasters/notesMaster1.xml" Id="R810a3dfaf39042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eb5c855aa44f52" /><Relationship Type="http://schemas.openxmlformats.org/officeDocument/2006/relationships/notesMaster" Target="/ppt/notesMasters/notesMaster1.xml" Id="R427c93abe9ed48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4c2c4649064642" /><Relationship Type="http://schemas.openxmlformats.org/officeDocument/2006/relationships/notesMaster" Target="/ppt/notesMasters/notesMaster1.xml" Id="R11b988b7259147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2b9b4ca83f42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f145d21b794cc6" /><Relationship Type="http://schemas.openxmlformats.org/officeDocument/2006/relationships/slideLayout" Target="/ppt/slideLayouts/slideLayout1.xml" Id="R99a6c77c7cb94c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a6c77c7cb94c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d1f308cf54af5" /><Relationship Type="http://schemas.openxmlformats.org/officeDocument/2006/relationships/notesSlide" Target="/ppt/notesSlides/notesSlide1.xml" Id="R7ace5a1d53ac40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9f34653f34de4" /><Relationship Type="http://schemas.openxmlformats.org/officeDocument/2006/relationships/notesSlide" Target="/ppt/notesSlides/notesSlide2.xml" Id="R83bec396c2734b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2bfb293504d45" /><Relationship Type="http://schemas.openxmlformats.org/officeDocument/2006/relationships/notesSlide" Target="/ppt/notesSlides/notesSlide3.xml" Id="R5c898da1d6bc4f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61bc8173f4f71" /><Relationship Type="http://schemas.openxmlformats.org/officeDocument/2006/relationships/notesSlide" Target="/ppt/notesSlides/notesSlide4.xml" Id="Ree0110750d3e48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492572d494a4c" /><Relationship Type="http://schemas.openxmlformats.org/officeDocument/2006/relationships/notesSlide" Target="/ppt/notesSlides/notesSlide5.xml" Id="R2916364ba94248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F98C713-488A-4933-9899-364FD93F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WEEK 05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424DB9-6F33-4D12-95DC-48D6B2A7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9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ฐานข้อมูลและการจัดการข้อมูลขนาดใหญ่</a:t>
            </a:r>
          </a:p>
        </p:txBody>
      </p:sp>
      <p:sp>
        <p:nvSpPr>
          <p:cNvPr id="3" name="week-block">
            <a:extLst xmlns:a="http://schemas.openxmlformats.org/drawingml/2006/main">
              <a:ext uri="{FF2B5EF4-FFF2-40B4-BE49-F238E27FC236}">
                <a16:creationId xmlns:a16="http://schemas.microsoft.com/office/drawing/2014/main" id="{177D1222-09B8-41E1-9F80-D4CC3C88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895350"/>
            <a:ext cx="23431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48F77493-738B-4ECA-B860-68BF0874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9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5" name="course-name">
            <a:extLst xmlns:a="http://schemas.openxmlformats.org/drawingml/2006/main">
              <a:ext uri="{FF2B5EF4-FFF2-40B4-BE49-F238E27FC236}">
                <a16:creationId xmlns:a16="http://schemas.microsoft.com/office/drawing/2014/main" id="{8F825508-0024-4045-BCCA-B624707C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Computer Engineering Essentials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5CB7FF60-74EA-4B35-9C9D-D7315E3E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ฐานข้อมูลคือระบบจัดเก็บ/จัดการข้อมูลอย่างมีโครงสร้าง โมเดลหลักคือ เชิงสัมพันธ์ (relational) ที่ใช้ตารางและ SQL ปัจจุบันมี Vector Database เป็นหมวดใหม่สำหรับงาน AI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24C7FCE-1B70-4FF4-BF6B-F74865F7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A1D31E1-CD90-4F9E-B561-BEE186A3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05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5AB7BF7-E374-4353-8524-E683B953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17791291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C4241830-1E36-4617-946F-F22A621A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Learning Objectives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2B11E9-09C3-4423-AF92-63C09416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เชื่อมโยง CLO ของรายวิชา</a:t>
            </a:r>
          </a:p>
        </p:txBody>
      </p:sp>
      <p:sp>
        <p:nvSpPr>
          <p:cNvPr id="3" name="dot-0">
            <a:extLst xmlns:a="http://schemas.openxmlformats.org/drawingml/2006/main">
              <a:ext uri="{FF2B5EF4-FFF2-40B4-BE49-F238E27FC236}">
                <a16:creationId xmlns:a16="http://schemas.microsoft.com/office/drawing/2014/main" id="{99D53567-2710-4D2D-A733-5CDD7A94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ullet-0">
            <a:extLst xmlns:a="http://schemas.openxmlformats.org/drawingml/2006/main">
              <a:ext uri="{FF2B5EF4-FFF2-40B4-BE49-F238E27FC236}">
                <a16:creationId xmlns:a16="http://schemas.microsoft.com/office/drawing/2014/main" id="{CF9CF451-B5F5-4618-BF1E-B125BF0B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ผู้เรียนเข้าใจหลักการของฐานข้อมูลเชิงสัมพันธ์ (Relational) และไม่เชิงสัมพันธ์ (NoSQL) — CLO3</a:t>
            </a:r>
          </a:p>
        </p:txBody>
      </p:sp>
      <p:sp>
        <p:nvSpPr>
          <p:cNvPr id="5" name="dot-1">
            <a:extLst xmlns:a="http://schemas.openxmlformats.org/drawingml/2006/main">
              <a:ext uri="{FF2B5EF4-FFF2-40B4-BE49-F238E27FC236}">
                <a16:creationId xmlns:a16="http://schemas.microsoft.com/office/drawing/2014/main" id="{F5ABE7F6-1B25-49B7-A106-A629424D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37086965-33BF-4DDD-8626-BC5FCB03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ผู้เรียนรู้จักแนวคิด Big Data และการจัดการข้อมูลขนาดใหญ่ — CLO3</a:t>
            </a:r>
          </a:p>
        </p:txBody>
      </p:sp>
      <p:sp>
        <p:nvSpPr>
          <p:cNvPr id="7" name="dot-2">
            <a:extLst xmlns:a="http://schemas.openxmlformats.org/drawingml/2006/main">
              <a:ext uri="{FF2B5EF4-FFF2-40B4-BE49-F238E27FC236}">
                <a16:creationId xmlns:a16="http://schemas.microsoft.com/office/drawing/2014/main" id="{B7613899-C2E6-4B28-BE85-F0AD6CD8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9D14218B-CC76-423A-B25D-CB5AEBA4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ผู้เรียนเข้าใจความสำคัญและสถาปัตยกรรมของ Vector Database ในยุค AI — CLO3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6B2EF52-0176-4A72-9CBB-244B11D0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932FF41-0DDA-4EAB-B8C6-D6CDA2B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05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FC8FBB0-28E0-4788-B5B6-F8AC1DC9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2871641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4808EE8D-5741-4297-9F9B-31ED85E1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Knowledge Map</a:t>
            </a:r>
          </a:p>
        </p:txBody>
      </p:sp>
      <p:sp>
        <p:nvSpPr>
          <p:cNvPr id="2" name="panel-0">
            <a:extLst xmlns:a="http://schemas.openxmlformats.org/drawingml/2006/main">
              <a:ext uri="{FF2B5EF4-FFF2-40B4-BE49-F238E27FC236}">
                <a16:creationId xmlns:a16="http://schemas.microsoft.com/office/drawing/2014/main" id="{E943D349-50CC-4A49-BAF5-5B63F042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71ECFD8B-9FAE-474F-93DF-0EEA920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หัวข้อหลัก</a:t>
            </a:r>
          </a:p>
        </p:txBody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66C61A18-E5D7-44AB-B68A-A8D07073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63CEC1A7-EA96-4FAC-B10D-75F06D34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ฐานข้อมูลเชิงสัมพันธ์และภาษา SQL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0297D191-403C-4A4F-A7A1-2E66E5C1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8B93BA1D-F05A-4CA4-B8EB-AE1F801F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NoSQL และ Big Data Analytics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301A3FF9-75EE-46D9-B4DF-AC275465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B19D145A-60B3-47C9-97F5-A995CC72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Vector Database (เช่น Pinecone, Milvus) สำหรับ LLM/…</a:t>
            </a:r>
          </a:p>
        </p:txBody>
      </p:sp>
      <p:sp>
        <p:nvSpPr>
          <p:cNvPr id="10" name="panel-1">
            <a:extLst xmlns:a="http://schemas.openxmlformats.org/drawingml/2006/main">
              <a:ext uri="{FF2B5EF4-FFF2-40B4-BE49-F238E27FC236}">
                <a16:creationId xmlns:a16="http://schemas.microsoft.com/office/drawing/2014/main" id="{B2300476-3299-41AB-BF78-F30C76C3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64E57AC2-1952-470F-9C13-DD802123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แก่นความรู้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E26D89C0-59F7-40FD-83CC-7E520BC1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A472271B-6123-4B0E-A251-1049062C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DBMS: ตัวกลางระหว่างผู้ใช้/แอปกับข้อมูล (MySQL, Pos…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C0BD794B-06AC-4AE6-8963-F114535C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4B068E44-D446-4115-BDB8-F69BAA59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โมเดลเชิงสัมพันธ์: ตาราง/แถว/คอลัมน์, primary/forei…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4AD645B1-C4DD-42AB-B084-A4DA5A65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C7311AF2-546E-4AD6-9D80-B3BE925F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SQL: SELECT, INSERT, UPDATE, DELETE, JOIN, WHERE, G…</a:t>
            </a:r>
          </a:p>
        </p:txBody>
      </p:sp>
      <p:sp>
        <p:nvSpPr>
          <p:cNvPr id="18" name="panel-2">
            <a:extLst xmlns:a="http://schemas.openxmlformats.org/drawingml/2006/main">
              <a:ext uri="{FF2B5EF4-FFF2-40B4-BE49-F238E27FC236}">
                <a16:creationId xmlns:a16="http://schemas.microsoft.com/office/drawing/2014/main" id="{CE5D9DE1-240A-41D9-B38E-DFD0F788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81241EC3-DBFF-4033-A902-D99B8303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แนวคิดเชื่อมโยง</a:t>
            </a:r>
          </a:p>
        </p:txBody>
      </p:sp>
      <p:sp>
        <p:nvSpPr>
          <p:cNvPr id="20" name="dot-0">
            <a:extLst xmlns:a="http://schemas.openxmlformats.org/drawingml/2006/main">
              <a:ext uri="{FF2B5EF4-FFF2-40B4-BE49-F238E27FC236}">
                <a16:creationId xmlns:a16="http://schemas.microsoft.com/office/drawing/2014/main" id="{2C00E195-FC6C-4CE3-BEA9-B6A0564F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0A2CF5D9-C278-4E9B-8E5E-BFB50983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Vector Database</a:t>
            </a:r>
          </a:p>
        </p:txBody>
      </p:sp>
      <p:sp>
        <p:nvSpPr>
          <p:cNvPr id="22" name="dot-1">
            <a:extLst xmlns:a="http://schemas.openxmlformats.org/drawingml/2006/main">
              <a:ext uri="{FF2B5EF4-FFF2-40B4-BE49-F238E27FC236}">
                <a16:creationId xmlns:a16="http://schemas.microsoft.com/office/drawing/2014/main" id="{6309260C-E457-408F-BF81-2FC87500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0CB0398A-E9EF-4C80-A18C-D9977743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RAG และ LLM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0FF7578-48C5-49AC-AAAF-D487B61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B0D9E17-A0B5-4EFA-9E27-5658F38F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05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B390132-4A35-440C-9F46-C632FA54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123931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6791106A-D467-4C22-A8F8-BE6F8C81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Core Content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732F4840-555D-43CB-8634-9B92D556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8D121367-29BB-4BAC-BB86-A2EBEABE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EFA8FBA9-7565-4C19-97CD-99848E19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ต้องเข้าใจ</a:t>
            </a:r>
          </a:p>
        </p:txBody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4DADA5E2-09B0-4C45-B04B-3A7221AE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ED638A50-2376-486E-A317-F4960ACA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DBMS: ตัวกลางระหว่างผู้ใช้/แอปกับข้อมูล (MySQL, PostgreSQL, SQLite, Oracle)</a:t>
            </a:r>
          </a:p>
        </p:txBody>
      </p:sp>
      <p:sp>
        <p:nvSpPr>
          <p:cNvPr id="7" name="dot-1">
            <a:extLst xmlns:a="http://schemas.openxmlformats.org/drawingml/2006/main">
              <a:ext uri="{FF2B5EF4-FFF2-40B4-BE49-F238E27FC236}">
                <a16:creationId xmlns:a16="http://schemas.microsoft.com/office/drawing/2014/main" id="{4CAF6449-98C2-4525-AA41-B923FE0D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F4E9CC2-278C-4620-A4DA-86552F0C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โมเดลเชิงสัมพันธ์: ตาราง/แถว/คอลัมน์, primary/foreign key, ER diagram, normalization</a:t>
            </a:r>
          </a:p>
        </p:txBody>
      </p:sp>
      <p:sp>
        <p:nvSpPr>
          <p:cNvPr id="9" name="dot-2">
            <a:extLst xmlns:a="http://schemas.openxmlformats.org/drawingml/2006/main">
              <a:ext uri="{FF2B5EF4-FFF2-40B4-BE49-F238E27FC236}">
                <a16:creationId xmlns:a16="http://schemas.microsoft.com/office/drawing/2014/main" id="{40F6522F-6061-4551-976E-3A4A958B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73D3B7E-51C5-4C31-880A-970D1F09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SQL: SELECT, INSERT, UPDATE, DELETE, JOIN, WHERE, GROUP BY</a:t>
            </a:r>
          </a:p>
        </p:txBody>
      </p:sp>
      <p:sp>
        <p:nvSpPr>
          <p:cNvPr id="11" name="right-head">
            <a:extLst xmlns:a="http://schemas.openxmlformats.org/drawingml/2006/main">
              <a:ext uri="{FF2B5EF4-FFF2-40B4-BE49-F238E27FC236}">
                <a16:creationId xmlns:a16="http://schemas.microsoft.com/office/drawing/2014/main" id="{98DC77E7-996F-4E50-9CBE-25442B2F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แนวโน้ม/บริบทปัจจุบัน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E0A5BAB6-0AE0-4117-8C87-DE088C11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145DD88F-BF99-485F-B9D2-43B8EEDD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ฐานข้อมูลเวกเตอร์ รองรับ RAG/semantic search/ความจำของ AI agents — ตลาด ~3.2 พันล้านดอลลาร์ในปี 202…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0981BE97-B82E-4776-AEFD-C611C159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192D09E8-8E45-4245-BDF0-B40CAD4A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เวกเตอร์กลายเป็น "ชนิดข้อมูล": ฐานข้อมูลหลักผนวกเข้าไป เช่น SQL Server 2025 เพิ่มชนิด VECTOR + Disk…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F16ECE63-0747-4BC9-B6CC-D941E071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61CC08FD-556A-4268-8019-D016BFC3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Hybrid search: ผสม vector + keyword + metadata + graph เป็นมาตรฐานใหม่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144025F-BE55-47C2-B6A1-1CC3C823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6169AA9-A1C3-49D7-9537-6DAEEB8C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05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8AAA98A-249A-4D61-AE01-536B01B3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8201764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F88AA875-36B9-43E7-B3FF-29CA9BFB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Lab &amp; Project Activity</a:t>
            </a:r>
          </a:p>
        </p:txBody>
      </p:sp>
      <p:sp>
        <p:nvSpPr>
          <p:cNvPr id="2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BA9DCF2E-80A0-4AB3-9103-88CCEB52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58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vity">
            <a:extLst xmlns:a="http://schemas.openxmlformats.org/drawingml/2006/main">
              <a:ext uri="{FF2B5EF4-FFF2-40B4-BE49-F238E27FC236}">
                <a16:creationId xmlns:a16="http://schemas.microsoft.com/office/drawing/2014/main" id="{3EEF50A0-450A-4212-AD05-6350C721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693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Lab 1 ชม. (ออกแบบ ER และ SQL) + Project 1 ชม.</a:t>
            </a:r>
          </a:p>
        </p:txBody>
      </p:sp>
      <p:sp>
        <p:nvSpPr>
          <p:cNvPr id="4" name="action-block">
            <a:extLst xmlns:a="http://schemas.openxmlformats.org/drawingml/2006/main">
              <a:ext uri="{FF2B5EF4-FFF2-40B4-BE49-F238E27FC236}">
                <a16:creationId xmlns:a16="http://schemas.microsoft.com/office/drawing/2014/main" id="{D3096B15-AAC5-46D2-A8DC-C64AA711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038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3238DDAA-7232-46C4-BF3A-E00AD4AD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Output</a:t>
            </a:r>
          </a:p>
        </p:txBody>
      </p:sp>
      <p:sp>
        <p:nvSpPr>
          <p:cNvPr id="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19269B3A-7421-42FD-83FD-EF683CA6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ใบงาน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โค้ด/แบบจำลอง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reflection</a:t>
            </a:r>
          </a:p>
        </p:txBody>
      </p:sp>
      <p:sp>
        <p:nvSpPr>
          <p:cNvPr id="7" name="closing">
            <a:extLst xmlns:a="http://schemas.openxmlformats.org/drawingml/2006/main">
              <a:ext uri="{FF2B5EF4-FFF2-40B4-BE49-F238E27FC236}">
                <a16:creationId xmlns:a16="http://schemas.microsoft.com/office/drawing/2014/main" id="{6CD2C8D3-AAF2-4B68-A56A-EC324939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ใช้สไลด์ชุดนี้เป็นแกนบรรยายก่อนเข้าสู่กิจกรรมปฏิบัติการ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E677A7C-E74E-40B6-B73A-534E7588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61B7A10-7D6D-4EC7-ACAF-9F22DD92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05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E870660-7060-41C0-9FC1-ED82DCF0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458596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2026-06-30T03:51:33.8490000Z</dcterms:created>
  <dcterms:modified xsi:type="dcterms:W3CDTF">2026-06-30T03:51:33.8490000Z</dcterms:modified>
</coreProperties>
</file>