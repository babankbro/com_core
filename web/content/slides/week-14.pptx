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876f7a28cc4683" /><Relationship Type="http://schemas.openxmlformats.org/officeDocument/2006/relationships/extended-properties" Target="/docProps/app.xml" Id="Rdcb755b0308b459d" /><Relationship Type="http://schemas.openxmlformats.org/officeDocument/2006/relationships/officeDocument" Target="/ppt/presentation.xml" Id="Rb95e8b8501034f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9239d858d14934"/>
  </p:sldMasterIdLst>
  <p:notesMasterIdLst>
    <p:notesMasterId xmlns:r="http://schemas.openxmlformats.org/officeDocument/2006/relationships" r:id="R4731a21948114fac"/>
  </p:notesMasterIdLst>
  <p:sldIdLst>
    <p:sldId xmlns:r="http://schemas.openxmlformats.org/officeDocument/2006/relationships" id="256" r:id="R966774bd781b4770"/>
    <p:sldId xmlns:r="http://schemas.openxmlformats.org/officeDocument/2006/relationships" id="257" r:id="Re5cbbe40a2174839"/>
    <p:sldId xmlns:r="http://schemas.openxmlformats.org/officeDocument/2006/relationships" id="258" r:id="R1ad5fefcb9694663"/>
    <p:sldId xmlns:r="http://schemas.openxmlformats.org/officeDocument/2006/relationships" id="259" r:id="R16d1ee0707854f8e"/>
    <p:sldId xmlns:r="http://schemas.openxmlformats.org/officeDocument/2006/relationships" id="260" r:id="Re783fe6c66fc486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578889cfe3438b" /><Relationship Type="http://schemas.openxmlformats.org/officeDocument/2006/relationships/slideMaster" Target="/ppt/slideMasters/slideMaster1.xml" Id="Ra99239d858d14934" /><Relationship Type="http://schemas.openxmlformats.org/officeDocument/2006/relationships/notesMaster" Target="/ppt/notesMasters/notesMaster1.xml" Id="R4731a21948114fac" /><Relationship Type="http://schemas.openxmlformats.org/officeDocument/2006/relationships/presProps" Target="/ppt/presProps.xml" Id="R5cd1dda1c9174178" /><Relationship Type="http://schemas.openxmlformats.org/officeDocument/2006/relationships/tableStyles" Target="/ppt/tableStyles.xml" Id="Rcdbf5397df834e53" /><Relationship Type="http://schemas.openxmlformats.org/officeDocument/2006/relationships/slide" Target="/ppt/slides/slide1.xml" Id="R966774bd781b4770" /><Relationship Type="http://schemas.openxmlformats.org/officeDocument/2006/relationships/slide" Target="/ppt/slides/slide2.xml" Id="Re5cbbe40a2174839" /><Relationship Type="http://schemas.openxmlformats.org/officeDocument/2006/relationships/slide" Target="/ppt/slides/slide3.xml" Id="R1ad5fefcb9694663" /><Relationship Type="http://schemas.openxmlformats.org/officeDocument/2006/relationships/slide" Target="/ppt/slides/slide4.xml" Id="R16d1ee0707854f8e" /><Relationship Type="http://schemas.openxmlformats.org/officeDocument/2006/relationships/slide" Target="/ppt/slides/slide5.xml" Id="Re783fe6c66fc48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505d7022cc4a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e0af0938d406d" /><Relationship Type="http://schemas.openxmlformats.org/officeDocument/2006/relationships/notesMaster" Target="/ppt/notesMasters/notesMaster1.xml" Id="Rd41e7b16961e4f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39b3e1a9e54675" /><Relationship Type="http://schemas.openxmlformats.org/officeDocument/2006/relationships/notesMaster" Target="/ppt/notesMasters/notesMaster1.xml" Id="Ra28d6898f20e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5dbad3da044fb7" /><Relationship Type="http://schemas.openxmlformats.org/officeDocument/2006/relationships/notesMaster" Target="/ppt/notesMasters/notesMaster1.xml" Id="R3d913683974e41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d5d6893b9c4ebe" /><Relationship Type="http://schemas.openxmlformats.org/officeDocument/2006/relationships/notesMaster" Target="/ppt/notesMasters/notesMaster1.xml" Id="R8356564d420841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7599ebedff4f0c" /><Relationship Type="http://schemas.openxmlformats.org/officeDocument/2006/relationships/notesMaster" Target="/ppt/notesMasters/notesMaster1.xml" Id="Rbaaf429acf1e44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c8e8e18944a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faa8c02d604901" /><Relationship Type="http://schemas.openxmlformats.org/officeDocument/2006/relationships/slideLayout" Target="/ppt/slideLayouts/slideLayout1.xml" Id="Rd7b958927c5345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b958927c5345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d0a156e594eae" /><Relationship Type="http://schemas.openxmlformats.org/officeDocument/2006/relationships/notesSlide" Target="/ppt/notesSlides/notesSlide1.xml" Id="Rbae1423706dc4d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3422844fc4d68" /><Relationship Type="http://schemas.openxmlformats.org/officeDocument/2006/relationships/notesSlide" Target="/ppt/notesSlides/notesSlide2.xml" Id="R4fb8b465a9a54f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af5d17289404d" /><Relationship Type="http://schemas.openxmlformats.org/officeDocument/2006/relationships/notesSlide" Target="/ppt/notesSlides/notesSlide3.xml" Id="R6b831f7f88a540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eb75bb95824137" /><Relationship Type="http://schemas.openxmlformats.org/officeDocument/2006/relationships/notesSlide" Target="/ppt/notesSlides/notesSlide4.xml" Id="R17baf8a7031d4b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4a3c8624b4e23" /><Relationship Type="http://schemas.openxmlformats.org/officeDocument/2006/relationships/notesSlide" Target="/ppt/notesSlides/notesSlide5.xml" Id="R1e4e793a60b64d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B8610B7-6E65-4528-A515-9586EFCE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14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AA86AC-8B7F-4FC7-85DF-BF72B3C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โครงงานประยุกต์และวิศวกรรมระบบ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28F0A762-09CD-459B-936C-56E34BA3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7B042C31-5F04-4915-9CFC-737B3F57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492466CB-E0E4-48E1-8FC6-2C1A94FD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7160720-5B86-4280-A38F-19383C26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สัปดาห์บูรณาการ — นำความรู้ทุกหัวข้อมาประกอบเป็นระบบจริงผ่านวงจรการพัฒนา (SDLC), แนวคิด Agile/DevOps และ CI/CD เพื่อเตรียมความพร้อมโครงงานปลายภาค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980F680-3A75-4B16-85BF-3C1703B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3C11C98-4D67-4D4D-9738-2B99A6EB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14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23613F0-3141-4C57-B1D2-836024D8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860334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8C3D47DE-1B39-458A-89AD-33ECFA8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E5725DF-7A62-4EBF-85DE-CEADCFA9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CLO ของรายวิชา</a:t>
            </a:r>
          </a:p>
        </p:txBody>
      </p:sp>
      <p:sp>
        <p:nvSpPr>
          <p:cNvPr id="3" name="dot-0">
            <a:extLst xmlns:a="http://schemas.openxmlformats.org/drawingml/2006/main">
              <a:ext uri="{FF2B5EF4-FFF2-40B4-BE49-F238E27FC236}">
                <a16:creationId xmlns:a16="http://schemas.microsoft.com/office/drawing/2014/main" id="{8A63AC7C-DF7D-476A-93C7-AFD8B730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383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bullet-0">
            <a:extLst xmlns:a="http://schemas.openxmlformats.org/drawingml/2006/main">
              <a:ext uri="{FF2B5EF4-FFF2-40B4-BE49-F238E27FC236}">
                <a16:creationId xmlns:a16="http://schemas.microsoft.com/office/drawing/2014/main" id="{146686C1-1BB3-46D0-B98B-53B44C86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526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ผู้เรียนเข้าใจวงจรการพัฒนาระบบซอฟต์แวร์/ฮาร์ดแวร์สมัยใหม่ — CLO6</a:t>
            </a:r>
          </a:p>
        </p:txBody>
      </p:sp>
      <p:sp>
        <p:nvSpPr>
          <p:cNvPr id="5" name="dot-1">
            <a:extLst xmlns:a="http://schemas.openxmlformats.org/drawingml/2006/main">
              <a:ext uri="{FF2B5EF4-FFF2-40B4-BE49-F238E27FC236}">
                <a16:creationId xmlns:a16="http://schemas.microsoft.com/office/drawing/2014/main" id="{D6F2E630-E506-4EEB-AFCF-D5CF4F25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2F5FEB67-1979-4159-B84C-18C77C23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ผู้เรียนรู้จักแนวคิด DevOps และกระบวนการ CI/CD — CLO6</a:t>
            </a:r>
          </a:p>
        </p:txBody>
      </p:sp>
      <p:sp>
        <p:nvSpPr>
          <p:cNvPr id="7" name="dot-2">
            <a:extLst xmlns:a="http://schemas.openxmlformats.org/drawingml/2006/main">
              <a:ext uri="{FF2B5EF4-FFF2-40B4-BE49-F238E27FC236}">
                <a16:creationId xmlns:a16="http://schemas.microsoft.com/office/drawing/2014/main" id="{8BB2F791-6CAE-45EC-A45F-A1AF427B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2">
            <a:extLst xmlns:a="http://schemas.openxmlformats.org/drawingml/2006/main">
              <a:ext uri="{FF2B5EF4-FFF2-40B4-BE49-F238E27FC236}">
                <a16:creationId xmlns:a16="http://schemas.microsoft.com/office/drawing/2014/main" id="{9E577802-79EF-44BA-B408-16583CF1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ผู้เรียนนำความรู้ทั้งหมดมาประยุกต์ออกแบบโครงงานปลายภาคได้ — CLO3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6292CF-C5CE-4C4C-AF0A-0D8025CD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578CDB3-AB12-4C81-91A8-C42E0CB6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14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E8002CB-DB62-4FC0-85C8-7A494ADE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344772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B44F5C5-FE99-4081-A6F5-77E552B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EA6E455D-0869-43B5-8559-7702C5A3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535ACBE1-ECBC-4995-B71A-7AF46932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dot-0">
            <a:extLst xmlns:a="http://schemas.openxmlformats.org/drawingml/2006/main">
              <a:ext uri="{FF2B5EF4-FFF2-40B4-BE49-F238E27FC236}">
                <a16:creationId xmlns:a16="http://schemas.microsoft.com/office/drawing/2014/main" id="{C519A339-3CA2-4C6C-B480-CF0A42E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ullet-0">
            <a:extLst xmlns:a="http://schemas.openxmlformats.org/drawingml/2006/main">
              <a:ext uri="{FF2B5EF4-FFF2-40B4-BE49-F238E27FC236}">
                <a16:creationId xmlns:a16="http://schemas.microsoft.com/office/drawing/2014/main" id="{81538067-5219-47B0-9E9C-D80EC654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วงจรการพัฒนาระบบ (SDLC)</a:t>
            </a:r>
          </a:p>
        </p:txBody>
      </p:sp>
      <p:sp>
        <p:nvSpPr>
          <p:cNvPr id="6" name="dot-1">
            <a:extLst xmlns:a="http://schemas.openxmlformats.org/drawingml/2006/main">
              <a:ext uri="{FF2B5EF4-FFF2-40B4-BE49-F238E27FC236}">
                <a16:creationId xmlns:a16="http://schemas.microsoft.com/office/drawing/2014/main" id="{AA382273-47A9-4FF3-86B1-AA8A0FD0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ullet-1">
            <a:extLst xmlns:a="http://schemas.openxmlformats.org/drawingml/2006/main">
              <a:ext uri="{FF2B5EF4-FFF2-40B4-BE49-F238E27FC236}">
                <a16:creationId xmlns:a16="http://schemas.microsoft.com/office/drawing/2014/main" id="{99400FC7-9A41-45E6-BC13-522CD738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วิศวกรรมระบบร่วมสมัย: Agile และ DevOps</a:t>
            </a:r>
          </a:p>
        </p:txBody>
      </p:sp>
      <p:sp>
        <p:nvSpPr>
          <p:cNvPr id="8" name="dot-2">
            <a:extLst xmlns:a="http://schemas.openxmlformats.org/drawingml/2006/main">
              <a:ext uri="{FF2B5EF4-FFF2-40B4-BE49-F238E27FC236}">
                <a16:creationId xmlns:a16="http://schemas.microsoft.com/office/drawing/2014/main" id="{E365FC6E-F9B0-4833-9F72-3A080BB3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ullet-2">
            <a:extLst xmlns:a="http://schemas.openxmlformats.org/drawingml/2006/main">
              <a:ext uri="{FF2B5EF4-FFF2-40B4-BE49-F238E27FC236}">
                <a16:creationId xmlns:a16="http://schemas.microsoft.com/office/drawing/2014/main" id="{263A1B61-0F8A-4BAE-86E4-14040DD6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Continuous Integration &amp; Continuous Deployment (CI/…</a:t>
            </a:r>
          </a:p>
        </p:txBody>
      </p:sp>
      <p:sp>
        <p:nvSpPr>
          <p:cNvPr id="10" name="panel-1">
            <a:extLst xmlns:a="http://schemas.openxmlformats.org/drawingml/2006/main">
              <a:ext uri="{FF2B5EF4-FFF2-40B4-BE49-F238E27FC236}">
                <a16:creationId xmlns:a16="http://schemas.microsoft.com/office/drawing/2014/main" id="{2CB7BA5F-5951-4A9A-8998-BBE4231C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F325972D-7C49-4DA6-A3AB-9C64741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AD4EE403-E5C6-4E31-A5DB-F9191DF4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17AE865B-4AE3-4402-8D39-5467C82B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SDLC: วิเคราะห์ → ออกแบบ → พัฒนา → ทดสอบ → นำไปใช้…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350C2EB7-74E5-4093-8C46-C3FA8060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861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E8EA0A5E-EF8A-4340-BDEC-3D011927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Agile/DevOps: วงรอบสั้น, การทำงานร่วม dev+ops, อัตโ…</a:t>
            </a:r>
          </a:p>
        </p:txBody>
      </p:sp>
      <p:sp>
        <p:nvSpPr>
          <p:cNvPr id="16" name="dot-2">
            <a:extLst xmlns:a="http://schemas.openxmlformats.org/drawingml/2006/main">
              <a:ext uri="{FF2B5EF4-FFF2-40B4-BE49-F238E27FC236}">
                <a16:creationId xmlns:a16="http://schemas.microsoft.com/office/drawing/2014/main" id="{15641BA1-8EB4-41E9-BC09-EC146B89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ullet-2">
            <a:extLst xmlns:a="http://schemas.openxmlformats.org/drawingml/2006/main">
              <a:ext uri="{FF2B5EF4-FFF2-40B4-BE49-F238E27FC236}">
                <a16:creationId xmlns:a16="http://schemas.microsoft.com/office/drawing/2014/main" id="{994489B4-9C22-408B-9EB2-81480FC1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767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CI/CD: integrate–build–test–deploy อัตโนมัติ; เชื่อ…</a:t>
            </a:r>
          </a:p>
        </p:txBody>
      </p:sp>
      <p:sp>
        <p:nvSpPr>
          <p:cNvPr id="18" name="panel-2">
            <a:extLst xmlns:a="http://schemas.openxmlformats.org/drawingml/2006/main">
              <a:ext uri="{FF2B5EF4-FFF2-40B4-BE49-F238E27FC236}">
                <a16:creationId xmlns:a16="http://schemas.microsoft.com/office/drawing/2014/main" id="{D2DC277B-35C4-4814-BD8D-7E843558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E77DCC09-F3BE-4638-80CF-F99DA7A4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20" name="dot-0">
            <a:extLst xmlns:a="http://schemas.openxmlformats.org/drawingml/2006/main">
              <a:ext uri="{FF2B5EF4-FFF2-40B4-BE49-F238E27FC236}">
                <a16:creationId xmlns:a16="http://schemas.microsoft.com/office/drawing/2014/main" id="{4E3D70F2-4B01-4F0D-99EB-DD8ADC65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bullet-0">
            <a:extLst xmlns:a="http://schemas.openxmlformats.org/drawingml/2006/main">
              <a:ext uri="{FF2B5EF4-FFF2-40B4-BE49-F238E27FC236}">
                <a16:creationId xmlns:a16="http://schemas.microsoft.com/office/drawing/2014/main" id="{35784C9C-50A7-4980-ABA4-91AB5D9B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476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275">
                <a:solidFill>
                  <a:srgbClr val="111111"/>
                </a:solidFill>
                <a:latin typeface="Tahoma"/>
                <a:ea typeface="Tahoma"/>
                <a:cs typeface="Tahoma"/>
              </a:rPr>
              <a:t>MLOps (ส่วนขยายของ DevOps สำหรับ ML)</a:t>
            </a:r>
          </a:p>
        </p:txBody>
      </p:sp>
      <p:sp>
        <p:nvSpPr>
          <p:cNvPr id="2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88C16B3-783F-4229-B6DD-93F536C1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ACF8B57-B077-4C83-9C64-4A815973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14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5AAE7C1-895E-4451-8E9D-8B82C78F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277235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85FD083-4E41-43A3-8716-02B73820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B4E7C5FF-EEAD-49BC-BDA1-1D76461B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242CB134-48F4-4670-8DC7-5C3FB889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C1A7F1A7-F7DE-4EA0-AAF9-A1D7A9AC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718B8C96-0258-4083-A09F-927815D3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F003A773-B32E-4F00-AB0A-833C91D6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SDLC: วิเคราะห์ → ออกแบบ → พัฒนา → ทดสอบ → นำไปใช้ → บำรุงรักษา</a:t>
            </a:r>
          </a:p>
        </p:txBody>
      </p:sp>
      <p:sp>
        <p:nvSpPr>
          <p:cNvPr id="7" name="dot-1">
            <a:extLst xmlns:a="http://schemas.openxmlformats.org/drawingml/2006/main">
              <a:ext uri="{FF2B5EF4-FFF2-40B4-BE49-F238E27FC236}">
                <a16:creationId xmlns:a16="http://schemas.microsoft.com/office/drawing/2014/main" id="{1DB828D6-90A8-4B05-AFE5-817F564C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6796BF30-123F-421B-81E3-47C6E327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Agile/DevOps: วงรอบสั้น, การทำงานร่วม dev+ops, อัตโนมัติ</a:t>
            </a:r>
          </a:p>
        </p:txBody>
      </p:sp>
      <p:sp>
        <p:nvSpPr>
          <p:cNvPr id="9" name="dot-2">
            <a:extLst xmlns:a="http://schemas.openxmlformats.org/drawingml/2006/main">
              <a:ext uri="{FF2B5EF4-FFF2-40B4-BE49-F238E27FC236}">
                <a16:creationId xmlns:a16="http://schemas.microsoft.com/office/drawing/2014/main" id="{9571C9B3-EECF-43C9-A410-9FD97EB9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020B0339-0228-4F78-BBEF-43D4E55C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CI/CD: integrate–build–test–deploy อัตโนมัติ; เชื่อมกับการจัดการเวอร์ชัน (Git)</a:t>
            </a:r>
          </a:p>
        </p:txBody>
      </p:sp>
      <p:sp>
        <p:nvSpPr>
          <p:cNvPr id="11" name="right-head">
            <a:extLst xmlns:a="http://schemas.openxmlformats.org/drawingml/2006/main">
              <a:ext uri="{FF2B5EF4-FFF2-40B4-BE49-F238E27FC236}">
                <a16:creationId xmlns:a16="http://schemas.microsoft.com/office/drawing/2014/main" id="{7E3E6817-73E4-4B89-83D6-7677FD11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12" name="dot-0">
            <a:extLst xmlns:a="http://schemas.openxmlformats.org/drawingml/2006/main">
              <a:ext uri="{FF2B5EF4-FFF2-40B4-BE49-F238E27FC236}">
                <a16:creationId xmlns:a16="http://schemas.microsoft.com/office/drawing/2014/main" id="{C3B995BB-74C1-4EDC-99D2-0CC9EBA6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24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3C9E6E56-70C8-41C6-8B80-F52FE86E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384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DevOps ผสาน AI (AIOps) และ MLOps เพื่อ deploy โมเดล/บริการอัตโนมัติ</a:t>
            </a:r>
          </a:p>
        </p:txBody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C90BEB81-35D0-4E2B-A5B3-46960FF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3F7A38A7-1375-4A57-8C6E-D87DA6B6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เครื่องมือ AI ช่วยทั้งวงจร SDLC (สร้างโค้ด/เทสต์/รีวิว)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F0D63FC-B02F-4E51-9091-7F79AC87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FAF753C-E34D-4457-A07E-7C92E8F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14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3D08718-E1F0-4420-B912-8B7DCFB5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746927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6762C07-B0DD-4B59-8AC5-26E4978C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75B1F281-535E-47F1-8866-180B3833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567D8D3C-CB30-4E7D-8B95-6E98D429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Lab 1 ชม. (สร้าง CI/CD Pipeline ขั้นต้น) + Project 1 ชม.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9BDC4C51-AB8F-4B42-9CA3-CB2BCD3F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DEACB3E3-21D9-4674-8270-C41D76E2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9131B04E-7603-4FA7-81E5-C12A0679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CF4FDF02-972C-44AC-B7CB-7610BDE4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9B6E40A-895F-430D-9600-E07225E0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174A0C2-DE35-48BC-8762-330BC753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14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D050AB-C1E4-47F7-AC23-1262BB93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17063622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2026-06-30T03:51:40.5210000Z</dcterms:created>
  <dcterms:modified xsi:type="dcterms:W3CDTF">2026-06-30T03:51:40.5210000Z</dcterms:modified>
</coreProperties>
</file>