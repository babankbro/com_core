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780c214aa44791" /><Relationship Type="http://schemas.openxmlformats.org/officeDocument/2006/relationships/extended-properties" Target="/docProps/app.xml" Id="R960b378bfeb9494e" /><Relationship Type="http://schemas.openxmlformats.org/officeDocument/2006/relationships/officeDocument" Target="/ppt/presentation.xml" Id="Rb8d356a7a5b945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fe0aa56c084028"/>
  </p:sldMasterIdLst>
  <p:notesMasterIdLst>
    <p:notesMasterId xmlns:r="http://schemas.openxmlformats.org/officeDocument/2006/relationships" r:id="R01fcc355358f4989"/>
  </p:notesMasterIdLst>
  <p:sldIdLst>
    <p:sldId xmlns:r="http://schemas.openxmlformats.org/officeDocument/2006/relationships" id="256" r:id="R7fff2cb82cf64533"/>
    <p:sldId xmlns:r="http://schemas.openxmlformats.org/officeDocument/2006/relationships" id="257" r:id="Rcfa2638373dd4bcd"/>
    <p:sldId xmlns:r="http://schemas.openxmlformats.org/officeDocument/2006/relationships" id="258" r:id="Rcb1d3964924f4d67"/>
    <p:sldId xmlns:r="http://schemas.openxmlformats.org/officeDocument/2006/relationships" id="259" r:id="R0d1a38aa9c4342c0"/>
    <p:sldId xmlns:r="http://schemas.openxmlformats.org/officeDocument/2006/relationships" id="260" r:id="R6480f91dc10442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2f2798c5d840ac" /><Relationship Type="http://schemas.openxmlformats.org/officeDocument/2006/relationships/slideMaster" Target="/ppt/slideMasters/slideMaster1.xml" Id="R14fe0aa56c084028" /><Relationship Type="http://schemas.openxmlformats.org/officeDocument/2006/relationships/notesMaster" Target="/ppt/notesMasters/notesMaster1.xml" Id="R01fcc355358f4989" /><Relationship Type="http://schemas.openxmlformats.org/officeDocument/2006/relationships/presProps" Target="/ppt/presProps.xml" Id="R5cf3dfd716dc4aa8" /><Relationship Type="http://schemas.openxmlformats.org/officeDocument/2006/relationships/tableStyles" Target="/ppt/tableStyles.xml" Id="R7799499472af45e1" /><Relationship Type="http://schemas.openxmlformats.org/officeDocument/2006/relationships/slide" Target="/ppt/slides/slide1.xml" Id="R7fff2cb82cf64533" /><Relationship Type="http://schemas.openxmlformats.org/officeDocument/2006/relationships/slide" Target="/ppt/slides/slide2.xml" Id="Rcfa2638373dd4bcd" /><Relationship Type="http://schemas.openxmlformats.org/officeDocument/2006/relationships/slide" Target="/ppt/slides/slide3.xml" Id="Rcb1d3964924f4d67" /><Relationship Type="http://schemas.openxmlformats.org/officeDocument/2006/relationships/slide" Target="/ppt/slides/slide4.xml" Id="R0d1a38aa9c4342c0" /><Relationship Type="http://schemas.openxmlformats.org/officeDocument/2006/relationships/slide" Target="/ppt/slides/slide5.xml" Id="R6480f91dc10442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76689953f140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42ce8cec2e4cb9" /><Relationship Type="http://schemas.openxmlformats.org/officeDocument/2006/relationships/notesMaster" Target="/ppt/notesMasters/notesMaster1.xml" Id="R509eaa2557ef41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bd45f2fcf044f2" /><Relationship Type="http://schemas.openxmlformats.org/officeDocument/2006/relationships/notesMaster" Target="/ppt/notesMasters/notesMaster1.xml" Id="Re649e3626cf146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f11c5e8d0e4f4a" /><Relationship Type="http://schemas.openxmlformats.org/officeDocument/2006/relationships/notesMaster" Target="/ppt/notesMasters/notesMaster1.xml" Id="R7011e583f6ad4f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6fd1626bc44988" /><Relationship Type="http://schemas.openxmlformats.org/officeDocument/2006/relationships/notesMaster" Target="/ppt/notesMasters/notesMaster1.xml" Id="R3c96318509094f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f5b59e67f24818" /><Relationship Type="http://schemas.openxmlformats.org/officeDocument/2006/relationships/notesMaster" Target="/ppt/notesMasters/notesMaster1.xml" Id="R1f29d9afdb1c48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50d417d02f4b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5b64fbc02a4cc2" /><Relationship Type="http://schemas.openxmlformats.org/officeDocument/2006/relationships/slideLayout" Target="/ppt/slideLayouts/slideLayout1.xml" Id="R270cf39833dd47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0cf39833dd47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7bbe409434900" /><Relationship Type="http://schemas.openxmlformats.org/officeDocument/2006/relationships/notesSlide" Target="/ppt/notesSlides/notesSlide1.xml" Id="R8949a82d50484e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0b988f8c440c4" /><Relationship Type="http://schemas.openxmlformats.org/officeDocument/2006/relationships/notesSlide" Target="/ppt/notesSlides/notesSlide2.xml" Id="Reeca379a53a943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7707d4ea54e09" /><Relationship Type="http://schemas.openxmlformats.org/officeDocument/2006/relationships/notesSlide" Target="/ppt/notesSlides/notesSlide3.xml" Id="R2bd36536c6fc43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510e4a5a84f88" /><Relationship Type="http://schemas.openxmlformats.org/officeDocument/2006/relationships/notesSlide" Target="/ppt/notesSlides/notesSlide4.xml" Id="Rf1f2c85cfec446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eda95c66f47fe" /><Relationship Type="http://schemas.openxmlformats.org/officeDocument/2006/relationships/notesSlide" Target="/ppt/notesSlides/notesSlide5.xml" Id="Rd87d022146094f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2ABE8EA-6F59-4B31-8397-481314AD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E376FA-0FE4-49F9-BC93-82EB91AF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วงจรตรรกะและหน่วยประมวลผล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CDA246F7-94F9-4FA5-8FF5-F4F5CE35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0279B161-44C9-4C23-A6EB-F5E9391A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4B771F92-73C9-491D-9AD9-70B8DAD0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677E706-DA14-485C-9DCA-AAAE3120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คอมพิวเตอร์ "คิด" ด้วยเลขฐานสอง (0/1) ผ่าน เกตตรรก ที่ประกอบเป็นวงจรเชิงผสม/เชิงลำดับ จนกลายเป็นหน่วยประมวลผลที่ทำงานตามวงรอบ fetch–decode–execute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2BC10D0-8AB4-4FB6-8AA5-6D56DA31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9768D90-90BD-492F-A547-43D915AD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03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CC0660B-7844-45E8-91F4-0626BC89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491436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0F0F335-2C4D-4995-9B55-F38FCC6D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FE9E08-5365-4833-8C5A-0424BFF2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58D4F86D-F2FE-46B6-9275-55928402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985F9FCE-E72B-41B7-99CA-65A93452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ผู้เรียนสามารถอธิบายหลักการทำงานของวงจรตรรกะ (Logic Circuits) พื้นฐานได้ — CLO2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1023B082-CA70-434C-AAE4-D0F27112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EE34E45D-C994-4A85-AE93-2A148D1C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ผู้เรียนเข้าใจสถาปัตยกรรมไมโครโปรเซสเซอร์ โดยเฉพาะสถาปัตยกรรมแบบเปิด RISC-V — CLO2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2AC096F8-CC81-4057-AADF-40135B97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32B82E1E-C17E-4292-AE0E-E3C523A9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ผู้เรียนสามารถเปรียบเทียบ CPU, GPU, NPU และ TPU ได้ — CLO2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784FE1A-17BC-4A64-AFA9-2B99F3C1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BF311F0-004E-4093-BFCE-13379990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03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51E0A64-95BE-489A-A82F-67423AB9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590690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F9AE02AA-4993-4A0B-9F10-C37DDF0B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4E2B2185-2735-4EE5-B36F-CF16AAC0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3A92F685-4145-4718-9CA5-9BC01645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38EB27CE-9406-471C-A9FD-BCD5A573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2A18D649-B29B-43E7-8A9E-9E5411AB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พีชคณิตบูลีนและวงจรตรรกะพื้นฐาน (Boolean Algebra แล…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75C9B952-78DF-4364-A74D-8E5C955B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8E657318-AD9B-473B-ACC9-08EE53F3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โครงสร้างและสถาปัตยกรรมไมโครโปรเซสเซอร์ (von Neuman…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93ADB22B-9B19-4EE0-9F80-A090D301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46B3FC08-171A-44D4-8778-0BE55B1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สถาปัตยกรรม RISC-V (Open Standard ISA)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5F8CC9E0-DD0D-4F98-8440-F030888B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98032B72-612B-4361-8EB0-306BF26B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3D8AFC75-83C7-4A5A-B25D-FEB27738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32C107AC-5DD0-40AD-8FAF-98D89A76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ระบบเลข: ฐานสอง/ฐานสิบหก, two's complement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D3DCAD5B-A2AF-41D8-B6F1-F7DCF46B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A4F6887D-5CB3-4168-ABF6-AD6AD30C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พีชคณิตบูลีน: AND/OR/NOT/NAND/NOR/XOR, ตารางความจริ…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7FA170A0-4A92-4A5D-A3E1-151178F4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63877FDC-E3B6-4258-9EFE-064916C4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วงจรเชิงผสม: half/full adder, multiplexer, decoder;…</a:t>
            </a:r>
          </a:p>
        </p:txBody>
      </p:sp>
      <p:sp>
        <p:nvSpPr>
          <p:cNvPr id="18" name="panel-2">
            <a:extLst xmlns:a="http://schemas.openxmlformats.org/drawingml/2006/main">
              <a:ext uri="{FF2B5EF4-FFF2-40B4-BE49-F238E27FC236}">
                <a16:creationId xmlns:a16="http://schemas.microsoft.com/office/drawing/2014/main" id="{17AC2337-5D8C-43DB-B41E-1D008604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7749A69D-5CB7-4D4C-8838-2CF87531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3C199D64-F9DB-413F-A662-2C828431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2322F3F2-67D1-4718-8920-F039FB10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Boolean Algebra และ Logic Gates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20E6EF89-4739-413B-94DA-6DCAD510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BE7BAE38-AEC2-401A-8FF7-6C892FAB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von Neumann Architecture</a:t>
            </a:r>
          </a:p>
        </p:txBody>
      </p:sp>
      <p:sp>
        <p:nvSpPr>
          <p:cNvPr id="24" name="dot-2">
            <a:extLst xmlns:a="http://schemas.openxmlformats.org/drawingml/2006/main">
              <a:ext uri="{FF2B5EF4-FFF2-40B4-BE49-F238E27FC236}">
                <a16:creationId xmlns:a16="http://schemas.microsoft.com/office/drawing/2014/main" id="{73E9C32D-2801-41E6-A416-3800488A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F669DCAD-9814-40D0-B5B7-38B4B5F7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RISC-V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2B059B-C694-4FF0-B1E2-55FA3EB8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B951066-76DF-4DE9-B248-646F7341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03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3A47186-1EE9-4FCD-9AFF-49464601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6512563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85B306B-628B-4EC8-B847-BA6739A0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0778634B-1452-45AD-ADC2-F685E36C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B7426C14-93DE-4233-AA09-29C4D9B1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33BB0044-2DFE-428A-A5F8-3D64B9C9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B168502C-3372-4F02-9F36-C284EC2F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DF1E995A-F869-4542-8521-1BE18062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ระบบเลข: ฐานสอง/ฐานสิบหก, two's complement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B0BE995A-8B6D-45C4-B634-DAD77F0A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DE00A605-2869-4464-9488-95529E3B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พีชคณิตบูลีน: AND/OR/NOT/NAND/NOR/XOR, ตารางความจริง, การลดรูป K-map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2E572FC8-295E-4A20-84B1-E40A30C9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25BFC3BF-CF71-439C-9A1C-E4D632B6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วงจรเชิงผสม: half/full adder, multiplexer, decoder; วงจรเชิงลำดับ: flip-flop, register, counter, clock</a:t>
            </a:r>
          </a:p>
        </p:txBody>
      </p:sp>
      <p:sp>
        <p:nvSpPr>
          <p:cNvPr id="11" name="right-head">
            <a:extLst xmlns:a="http://schemas.openxmlformats.org/drawingml/2006/main">
              <a:ext uri="{FF2B5EF4-FFF2-40B4-BE49-F238E27FC236}">
                <a16:creationId xmlns:a16="http://schemas.microsoft.com/office/drawing/2014/main" id="{BAEDA256-DDDA-42B4-84A7-341F7791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C85B6B25-2558-4C54-99F8-96C488F9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09D840C0-C1EA-4D61-90AD-CF7B82FF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กฎของมัวร์ชะลอตัว: ผลิตระดับ 2nm เชิงพาณิชย์แต่ต้นทุนสูง (~30,000 USD/wafer ในปี 2026)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453960EC-D126-40EE-A633-33E87CD0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95A0291C-75E0-46EF-A9DE-AA58FD7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สถาปัตยกรรม Chiplet: ใช้ชิปเล็ตหลายชิ้นเฉพาะทางต่อกันด้วย advanced packaging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6EA3479B-7BCD-4C33-96C0-16952BAB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FF64BF72-E1B6-4288-ADE5-55ED8C61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ยุคตัวเร่ง AI (AI accelerators): GPU ก้อนเดียวไม่ใช่ค่าเริ่มต้นอีกต่อไป ตลาดตัวเร่ง AI โตหลายแสนล้า…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F032E29-A91D-4E28-9568-DD238C26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0F4139C-CDB1-407A-B7FF-2BD1515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03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6CF8425-7460-4B86-BD12-DECCCCB3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344885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619E2CF0-E1E7-41E1-980C-5081ED56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2E55E148-7E83-4FE9-9FC8-89B7B1F6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13F6B6B9-49A5-4939-AC37-51B8BC32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(จำลองวงจร Logisim)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4835E9DC-F523-4BE3-97F1-35125479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358E6044-9630-4960-A466-1ED3E9C5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F17DC109-8CB1-49D7-803B-41A53EC1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939BCDF8-943C-4740-B0C5-D16CAB6A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6805C40-0AEC-4A2A-8AD2-56E5A0F2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859B504-2369-4126-8210-4B2D53B6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03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D0720A5-BE4E-4DE5-98DF-6D957622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772554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2026-06-30T03:51:32.0490000Z</dcterms:created>
  <dcterms:modified xsi:type="dcterms:W3CDTF">2026-06-30T03:51:32.0490000Z</dcterms:modified>
</coreProperties>
</file>